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the shift is real, but the popular narrative has the timing and the location of value wrong. This deck resolves five questions in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 decision deck, not a literature review. Every section ends with a decision or a declared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governing thought of the whole deck. If the audience remembers one slide, it is this one. The correction is the commercially consequential part: it redirects Horizon-1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signals from three different actor types (assistant provider, retailer, marketplace) all pointing the same way. That convergence is what makes the correction safe to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rings to place the correction physically: Horizon-1 value is the middle ring. The inner ring is the smallest, hardest and the one that stalled. The trust bar underneath is section 01's argument in one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pyramid. Each proposition maps to one body section. Do not add a fourth — the discipline of three is what keeps the argument decision-ready.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an assumption failure, not a channel change. Everything downstream — martech spend, SEO, retail media — inherits the broken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different governance bodies, four different layers, all within twelve months. That is what ‘de facto standard’ looks like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trust-builder with the executive audience. It says we did the triangulation. Use it to pre-empt ‘but I read that...’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point of section 01. The constraint is also the opportunity: what blocks clients is exactly what they will pay us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pattern: every low-exposure case keeps a human on the authorisation step. Autonomy is earned stage by stage, not granted.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‘cannot be averaged away’. This is the single most common failure in agentic maturity models on the market, and it is our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Autonomy increases as you go up the stack. Most client conversations start at layer 2 and have never considered layers 5 and 6 — which is exactly where our margin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Commerce semantics (ACP vs UCP) is the one contested layer. Everything else has consolidated. Advise clients to hedge across ACP and UCP rather than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right-hand quadrants are the credibility move: we are the firm that tells clients when NOT to use the fashionable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‘intent ownership’ control point (01) is the least proven: consumers are resisting delegation, so owning the surface has not converted into owning the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Mirakl: businesses lose ~$15M a year to poor data quality. Under agentic procurement that compounds, because the agent simply never surfaces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Classified on four non-overlapping axes: role in value chain, payer, monetisation, and control point. Ordered here by defensibility x horizon, not by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35x forecast range (eMarketer ~$144bn to McKinsey ~$5tn by 2030) is driven purely by definitional boundaries. Never quote a market size without its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ranking is the sequencing logic for go-to-market. Lead with financial services and B2B; lead retail conversations with data readiness, never with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APAC is materially ahead of Western consumer deployment: Mastercard Agent Pay achieved live authenticated agentic transactions in Hong Kong (Mar 2026) and Thailand (Apr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closed-platform scenario is most live here. Google holds surface, catalogue, payment and protocol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Gartner's 90% / $15tn is a 2028 prediction, not a measurement. Use it to size ambition, never to justify a 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makes the deck about us, not about clients. The counter-signal column is what stops an over-reaction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Observability is the worked example: we should tell every client to invest in it, we should never build it, and we should partner for it. One category, three different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challenged on any single recommendation, retreat to the no-regret test: does it pay back even if autonomy never arrives? For the top three,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gap is real: no single tool today combines executive assessment, automated architecture discovery, data readiness, agent evaluation, security gates, prioritisation and sector benchmarks. That gap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ranking separate from thesis A and B. Consumer personal-agent apps are an avoid for our balance sheet even though they are a legitimate thing for a client to experiment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gates as the point of the slide, not the activities. Executives should leave knowing what evidence unlocks the next tranche of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Declaring falsifiers up front is the credibility move with an executive audience. It converts a point of view into a testable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a named owner and a quarterly cadence in the room. An indicator with no owner is a footnote, not a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defensively when a senior stakeholder challenges a number. Almost every challenge resolves to assumption 01 (what counts as agentic) or 03 (market size definitions).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two monitored variables. They are what turns this from a point of view into a managed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91440"/>
            <a:ext cx="4370832" cy="676656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523036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STRATEGIC RESEARCH PROGRAMME   |   RESEARCH CUTOFF 18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7040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The Machine-Mediated
Commerce Front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50208"/>
            <a:ext cx="1371600" cy="411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24528"/>
            <a:ext cx="6766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B4BE"/>
                </a:solidFill>
                <a:latin typeface="Arial"/>
              </a:rPr>
              <a:t>Where value actually accrues as agents — not people — become the buyers, and what the firm should advise, build and invest in across three horizons.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Prepared for the executive team of a multi-domain consulting 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566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AT A GLANCE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17%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of shoppers are comfortable buying through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41%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of software organisations have MCP in production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88%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reported an AI-agent security incident this year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3–7 yrs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for the economic restructuring to play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HOW TO READ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This deck answers five questions in sequence — each section closes one before the next opens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8585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822960" cy="676656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2821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4663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Is the shift real, and is it on time?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050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E78"/>
                </a:solidFill>
                <a:latin typeface="Arial"/>
              </a:rPr>
              <a:t>The shift is real. The popular timing and location of value are wrong.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1118585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822960" cy="676656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780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41448"/>
            <a:ext cx="4663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Where does value actually accrue?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41448"/>
            <a:ext cx="51050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E78"/>
                </a:solidFill>
                <a:latin typeface="Arial"/>
              </a:rPr>
              <a:t>To scarce control points — not to protocols, which are commoditising.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1118585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822960" cy="676656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278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91256"/>
            <a:ext cx="4663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When does it land, and in which sectors?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91256"/>
            <a:ext cx="51050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E78"/>
                </a:solidFill>
                <a:latin typeface="Arial"/>
              </a:rPr>
              <a:t>Enterprise and B2B first; consumer autonomy last. Six sectors ranked.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22191"/>
            <a:ext cx="1118585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22191"/>
            <a:ext cx="822960" cy="676656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41063"/>
            <a:ext cx="4663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What do we do about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41063"/>
            <a:ext cx="51050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E78"/>
                </a:solidFill>
                <a:latin typeface="Arial"/>
              </a:rPr>
              <a:t>Three separate theses: for clients, for the firm, for external investment.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1118585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72000"/>
            <a:ext cx="822960" cy="676656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2744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690872"/>
            <a:ext cx="4663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What would prove us wrong?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90872"/>
            <a:ext cx="51050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6E78"/>
                </a:solidFill>
                <a:latin typeface="Arial"/>
              </a:rPr>
              <a:t>Five falsifiers and seven leading indicators, declared up front.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Each section is mutually exclusive and collectively exhaustive: no argument appears twice, and nothing material is left out.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EXECUTIVE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The working thesis is confirmed — with one correction that changes where we invest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50749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SUBSTANTIALLY CONFIRMED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A1A24"/>
                </a:solidFill>
                <a:latin typeface="Arial"/>
              </a:rPr>
              <a:t>Machine-mediated commerce is real, accelerating and structurally significant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A100FF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Commerce is moving from human interfaces to machine-readable capabilities — high confidence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A100FF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Value accrues to controllers of intent, data, capability, identity, orchestration, settlement and assurance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A100FF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Open, foundation-governed standards are winning the protocol layer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A100FF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The restructuring is a three-to-seven year phenomenon, not a this-year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2788920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92224"/>
            <a:ext cx="507492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ONE MATERIAL CORRECTION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A1A24"/>
                </a:solidFill>
                <a:latin typeface="Arial"/>
              </a:rPr>
              <a:t>The Horizon-1 front line is enterprise and the rails — not autonomous consumer shopping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460073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Value is in enterprise back-office and B2B workflows: procurement, service, finance, compliance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460073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And in the payment, identity and trust “rails” that make delegation safe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460073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Autonomous consumer checkout stalled in early 2026 on trust and conversion economics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460073"/>
                </a:solidFill>
                <a:latin typeface="Arial"/>
              </a:rPr>
              <a:t>▪  </a:t>
            </a:r>
            <a:r>
              <a:rPr sz="1000" b="0">
                <a:solidFill>
                  <a:srgbClr val="3A3A46"/>
                </a:solidFill>
                <a:latin typeface="Arial"/>
              </a:rPr>
              <a:t>It is a Horizon-2/3 phenomenon — fund it as an option, not as a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Build around the durable control points — not around any single protocol, and not around the consumer-checkout narrative. MCP is now infrastructure, but it is one layer of a multi-protocol stack.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CORRECTION, IN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Consumers accept agents as shopping assistants far faster than as autonomous buyers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MARCH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OpenAI scaled back in-chat Instant Checkout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Only ~12 of Shopify’s millions of merchants had gone live. The single most decisive datapoint of 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572768"/>
            <a:ext cx="360273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88536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792224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WALMART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In-chat checkout converted ~3× worse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The same shoppers sent to walmart.com converted at roughly three times the rate of completing in chat.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1" y="1572768"/>
            <a:ext cx="360273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074151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92224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FEBRUARY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eBay banned unauthorised buy-for-me bots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Marketplaces are actively fencing off autonomous purchasing rather than courting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94176"/>
            <a:ext cx="11185855" cy="12070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94176"/>
            <a:ext cx="41148" cy="1207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A100FF"/>
                </a:solidFill>
                <a:latin typeface="Arial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13632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of shoppers feel comfortable completing a purchase through AI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AA6"/>
                </a:solidFill>
                <a:latin typeface="Arial"/>
              </a:rPr>
              <a:t>ChannelEngine Marketplace Shopping Behavior Report 2026. Trust — not model capability — is what is binding.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“Discover in AI, buy on site” is the durable pattern today. Advise clients to fund machine-readable capability and governance — not chatbot checkout.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Machine-mediated commerce nests in three scopes — and Horizon-1 value sits in the middle ring, not the inner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6675120" cy="2999232"/>
          </a:xfrm>
          <a:prstGeom prst="roundRect">
            <a:avLst>
              <a:gd name="adj" fmla="val 10000"/>
            </a:avLst>
          </a:prstGeom>
          <a:solidFill>
            <a:srgbClr val="F9F4FF"/>
          </a:solidFill>
          <a:ln w="1270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82496"/>
            <a:ext cx="61813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E82FF"/>
                </a:solidFill>
                <a:latin typeface="Arial"/>
              </a:rPr>
              <a:t>1   </a:t>
            </a:r>
            <a:r>
              <a:rPr sz="950" b="1">
                <a:solidFill>
                  <a:srgbClr val="7500C0"/>
                </a:solidFill>
                <a:latin typeface="Arial"/>
              </a:rPr>
              <a:t>MACHINE-MEDIATED ECONOMIC INTERACTION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E6E78"/>
                </a:solidFill>
                <a:latin typeface="Arial"/>
              </a:rPr>
              <a:t>Autonomous exchanges between agents, machines, organisations and digital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03120"/>
            <a:ext cx="5760720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12848"/>
            <a:ext cx="52669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E82FF"/>
                </a:solidFill>
                <a:latin typeface="Arial"/>
              </a:rPr>
              <a:t>2   </a:t>
            </a:r>
            <a:r>
              <a:rPr sz="950" b="1">
                <a:solidFill>
                  <a:srgbClr val="7500C0"/>
                </a:solidFill>
                <a:latin typeface="Arial"/>
              </a:rPr>
              <a:t>ENTERPRISE COMMERCE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E6E78"/>
                </a:solidFill>
                <a:latin typeface="Arial"/>
              </a:rPr>
              <a:t>Procurement, sales, supply chain and finance, executed via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633472"/>
            <a:ext cx="4846320" cy="1060704"/>
          </a:xfrm>
          <a:prstGeom prst="roundRect">
            <a:avLst>
              <a:gd name="adj" fmla="val 16000"/>
            </a:avLst>
          </a:prstGeom>
          <a:solidFill>
            <a:srgbClr val="F0E4FF"/>
          </a:solidFill>
          <a:ln w="15875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2761488"/>
            <a:ext cx="4352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100FF"/>
                </a:solidFill>
                <a:latin typeface="Arial"/>
              </a:rPr>
              <a:t>3   </a:t>
            </a:r>
            <a:r>
              <a:rPr sz="950" b="1">
                <a:solidFill>
                  <a:srgbClr val="460073"/>
                </a:solidFill>
                <a:latin typeface="Arial"/>
              </a:rPr>
              <a:t>CUSTOMER COMMERCE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 i="0">
                <a:solidFill>
                  <a:srgbClr val="3A3A46"/>
                </a:solidFill>
                <a:latin typeface="Arial"/>
              </a:rPr>
              <a:t>Discovery, purchase, payment and fulfilment via personal agents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60073"/>
                </a:solidFill>
                <a:latin typeface="Arial"/>
              </a:rPr>
              <a:t>The smallest ring — and the one that stalled in 2026</a:t>
            </a:r>
          </a:p>
        </p:txBody>
      </p:sp>
      <p:sp>
        <p:nvSpPr>
          <p:cNvPr id="12" name="Up Arrow 11"/>
          <p:cNvSpPr/>
          <p:nvPr/>
        </p:nvSpPr>
        <p:spPr>
          <a:xfrm>
            <a:off x="3685032" y="4590288"/>
            <a:ext cx="310896" cy="192024"/>
          </a:xfrm>
          <a:prstGeom prst="up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800600"/>
            <a:ext cx="667512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800600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6263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100FF"/>
                </a:solidFill>
                <a:latin typeface="Arial"/>
              </a:rPr>
              <a:t>TRUST INFRASTRUCTURE   </a:t>
            </a:r>
            <a:r>
              <a:rPr sz="880" b="0">
                <a:solidFill>
                  <a:srgbClr val="FFFFFF"/>
                </a:solidFill>
                <a:latin typeface="Arial"/>
              </a:rPr>
              <a:t>Identity · delegated authority · consent · policy · security · liability · reversibility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5628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E6E78"/>
                </a:solidFill>
                <a:latin typeface="Arial"/>
              </a:rPr>
              <a:t>constrains and enables every ring above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572768"/>
            <a:ext cx="4187952" cy="3776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572768"/>
            <a:ext cx="4187952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4" y="1792224"/>
            <a:ext cx="3712463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500C0"/>
                </a:solidFill>
                <a:latin typeface="Arial"/>
              </a:rPr>
              <a:t>MCP LOWERS THE COST OF ACCESS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But it does not solve: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1">
                <a:solidFill>
                  <a:srgbClr val="1A1A24"/>
                </a:solidFill>
                <a:latin typeface="Arial"/>
              </a:rPr>
              <a:t>Agent discovery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6E6E78"/>
                </a:solidFill>
                <a:latin typeface="Arial"/>
              </a:rPr>
              <a:t>        layer 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1">
                <a:solidFill>
                  <a:srgbClr val="1A1A24"/>
                </a:solidFill>
                <a:latin typeface="Arial"/>
              </a:rPr>
              <a:t>Agent-to-agent coordination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6E6E78"/>
                </a:solidFill>
                <a:latin typeface="Arial"/>
              </a:rPr>
              <a:t>        A2A, layer 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1">
                <a:solidFill>
                  <a:srgbClr val="1A1A24"/>
                </a:solidFill>
                <a:latin typeface="Arial"/>
              </a:rPr>
              <a:t>Commerce semantics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6E6E78"/>
                </a:solidFill>
                <a:latin typeface="Arial"/>
              </a:rPr>
              <a:t>        ACP / UCP, layer 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1">
                <a:solidFill>
                  <a:srgbClr val="1A1A24"/>
                </a:solidFill>
                <a:latin typeface="Arial"/>
              </a:rPr>
              <a:t>Payment and settlement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6E6E78"/>
                </a:solidFill>
                <a:latin typeface="Arial"/>
              </a:rPr>
              <a:t>        AP2 / x402, layer 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1">
                <a:solidFill>
                  <a:srgbClr val="1A1A24"/>
                </a:solidFill>
                <a:latin typeface="Arial"/>
              </a:rPr>
              <a:t>Liability and governance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6E6E78"/>
                </a:solidFill>
                <a:latin typeface="Arial"/>
              </a:rPr>
              <a:t>        layer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This is why the deck is organised around control points rather than around MCP. Each ring needs a different protocol, and all three rest on a trust layer that no protocol supplies.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ARGUMENT IN THREE PROPOSITIONS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Three propositions carry the whole argument — everything that follows is evidence for one of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9222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E82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9152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A1A24"/>
                </a:solidFill>
                <a:latin typeface="Arial"/>
              </a:rPr>
              <a:t>The shift is real, but the popular narrative is mis-timed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Enterprise and B2B agentic workflows plus the payment-identity-trust rails are the Horizon-1 value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Autonomous consumer shopping stalled on trust and conversion economics in early 2026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Advise clients to invest in machine-readable capabilities and governance, not chatbot checkout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3" y="179222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E82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3" y="2359152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A1A24"/>
                </a:solidFill>
                <a:latin typeface="Arial"/>
              </a:rPr>
              <a:t>Value accrues to control points, not protocols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MCP, A2A, ACP, UCP, AP2 and x402 are all converging on open, foundation governance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That convergence will substantially commoditise them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Defensible value sits in identity and delegated authority, differentiated data, orchestration, settlement and assurance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1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1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9222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E82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359152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A1A24"/>
                </a:solidFill>
                <a:latin typeface="Arial"/>
              </a:rPr>
              <a:t>For the firm, this is a no-regret foundation play — now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Build a proprietary maturity diagnostic, a trust/control library and protocol accelerators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Stand up a managed agent-operations and assurance service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3A3A46"/>
                </a:solidFill>
                <a:latin typeface="Arial"/>
              </a:rPr>
              <a:t>Partner — do not build — on observability and payments; treat autonomous operators as a frontier bet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Sections 01–03 establish these propositions; sections 04–05 convert them into decisions and declare what would overturn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A100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The shift is real —
but mis-timed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A6"/>
                </a:solidFill>
                <a:latin typeface="Arial"/>
              </a:rPr>
              <a:t>The infrastructure arrived in 2026. The trust did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0972" cy="329184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 THIS SECTION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interface shift: from attracting humans to serving agents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Four milestones that made the infrastructure real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Why announcements are not adoption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Trust as the binding constraint on autonomy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Where Horizon-1 value therefore sits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ten gates every autonomous use case must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INTERFACE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The commercial question changes from “how do we attract a human to our interface?” to “how does a trusted agent transact with our capabilities?”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4983480" cy="2971800"/>
          </a:xfrm>
          <a:prstGeom prst="rect">
            <a:avLst/>
          </a:prstGeom>
          <a:solidFill>
            <a:srgbClr val="F4F4F6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922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E78"/>
                </a:solidFill>
                <a:latin typeface="Arial"/>
              </a:rPr>
              <a:t>TRADITIONAL 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2212848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Pages and apps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560320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334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Funnels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907791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8094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Search rankings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255263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28415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Advertising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602735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75887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Call centres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950207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23359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78"/>
                </a:solidFill>
                <a:latin typeface="Arial"/>
              </a:rPr>
              <a:t>Manual workflows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33288" y="2779776"/>
            <a:ext cx="822960" cy="566928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93992" y="1572768"/>
            <a:ext cx="4983480" cy="2971800"/>
          </a:xfrm>
          <a:prstGeom prst="rect">
            <a:avLst/>
          </a:prstGeom>
          <a:solidFill>
            <a:srgbClr val="F9F4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0024" y="17922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500C0"/>
                </a:solidFill>
                <a:latin typeface="Arial"/>
              </a:rPr>
              <a:t>AGENT-MEDIATED COMMERCE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0024" y="2212848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228600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Structured intent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0024" y="2560320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6334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Machine-readable capabilities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24" y="2907791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2904" y="298094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Verifiable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0024" y="3255263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3328415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Policy-compliant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0024" y="3602735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3675887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Measurable outcomes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0024" y="3950207"/>
            <a:ext cx="44805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4023359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Agent discovery and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645152"/>
            <a:ext cx="4983480" cy="7315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645152"/>
            <a:ext cx="41148" cy="731520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47365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6E78"/>
                </a:solidFill>
                <a:latin typeface="Arial"/>
              </a:rPr>
              <a:t>“How do we attract a human to our interface?”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93992" y="4645152"/>
            <a:ext cx="4983480" cy="73152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93992" y="4645152"/>
            <a:ext cx="41148" cy="73152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31736" y="47365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500C0"/>
                </a:solidFill>
                <a:latin typeface="Arial"/>
              </a:rPr>
              <a:t>“How does a trusted agent discover and transact with our capabilities?”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An 8,000-vendor martech stack is built on the assumption that buyers arrive at seller environments. Agents break that assumption — and with it, the discovery and SEO value pool.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In 2026 the infrastructure layer stopped being experimental — four milestones made it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28 JULY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MCP reached its stateless specification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OAuth 2.1 / OIDC aligned; Resource Indicators (RFC 8707) required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Enterprise-Managed Authorization now stable — Anthropic, Microsoft, Okta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~half a billion monthly Tier-1 SDK downloads; ~9,650 registry servers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9 APRIL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A2A reached v1.0 — production-grade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Signed Agent Cards and multi-tenancy for cross-boundary coordination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150+ organisations; Linux Foundation governed, absorbed IBM ACP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Shipped in Vertex AI, Bedrock AgentCore, Azure AI Foundry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1012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26 MAY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Payment authority consolidated at FIDO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Google’s AP2 and Mastercard’s Verifiable Intent both donated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AP2 v0.2 adds “Human Not Present”; 60+ partners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Payments TWG chaired by Mastercard and Visa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331012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45352" y="331012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2958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THROUGH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Card networks shipped production agentic rails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Visa Intelligent Commerce Connect unifies four protocols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Mastercard Agent Pay live in Hong Kong (Mar) and Thailand (Apr)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x402 became a Linux Foundation project, operational 14 July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plumbing is no longer the constraint. Any strategy that is still waiting for the standards to settle is now a year behind.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ADOPTION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Announcements are not adoption — production reality is roughly half of what the headlines imply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670048" cy="1874519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576" cy="187451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10512"/>
            <a:ext cx="226771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41%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of surveyed software organisations have MCP in limited or broad production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Stacklok 2026 software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572768"/>
            <a:ext cx="2670048" cy="1874519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1572768"/>
            <a:ext cx="36576" cy="187451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10512"/>
            <a:ext cx="226771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8.5%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of MCP servers implement mandatory OAuth 2.1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The security floor is not being met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2670048" cy="1874519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572768"/>
            <a:ext cx="36576" cy="187451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10512"/>
            <a:ext cx="226771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14.4%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of agents went live with full security and IT approval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Gravitee State of AI Agent Security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272" y="1572768"/>
            <a:ext cx="2670048" cy="1874519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4272" y="1572768"/>
            <a:ext cx="36576" cy="1874519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810512"/>
            <a:ext cx="226771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88%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of organisations reported a confirmed or suspected AI-agent security incident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Gravitee 2026; healthcare 92.7%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11185855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41148" cy="124358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22191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7500C0"/>
                </a:solidFill>
                <a:latin typeface="Arial"/>
              </a:rPr>
              <a:t>THREE HEADLINE NUMBERS THAT DO NOT SURVIVE TRIANGULATION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1A1A24"/>
                </a:solidFill>
                <a:latin typeface="Arial"/>
              </a:rPr>
              <a:t>“MCP is 78% in production” is debunked — use ~41%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1A1A24"/>
                </a:solidFill>
                <a:latin typeface="Arial"/>
              </a:rPr>
              <a:t>x402 cumulative payment counts do not reconcile: Coinbase figures range ~75M to ~169M, on only $24–50M cumulative value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▪  </a:t>
            </a:r>
            <a:r>
              <a:rPr sz="950" b="0">
                <a:solidFill>
                  <a:srgbClr val="1A1A24"/>
                </a:solidFill>
                <a:latin typeface="Arial"/>
              </a:rPr>
              <a:t>AgentCore “~200ms settlement” is the settlement step only — independent testing measured ~3–5s end to 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Read every vendor number as a pilot number until proven otherwise. Our credibility with clients depends on being the firm that corrects these, not the one that repeats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BINDING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Trust, not technology, is what stops autonomy — and trust is an engineering programme, not a communications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23697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THE DEMAND-SIDE DEFICIT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Users will not delegate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Only 17% of shoppers are comfortable buying through AI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eBay banned unauthorised buy-for-me bots; Walmart saw ~3× worse conversion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Liability for agent errors is unresolved across the FTC, the FCA and PSD3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572768"/>
            <a:ext cx="3602736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88536" y="1572768"/>
            <a:ext cx="3602736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792224"/>
            <a:ext cx="323697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THE SUPPLY-SIDE ATTACK SURFACE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Agents introduce new classes of attack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Tool poisoning, descriptor poisoning, agent-in-the-middle, goal hijacking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Documented in the OWASP MCP Top 10 and peer-reviewed research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Real exploitation: CVE-2025-59528 in Flowise; a malicious MCP server impersonating Postmark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2" y="1572768"/>
            <a:ext cx="3611880" cy="2331720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074152" y="1572768"/>
            <a:ext cx="36118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92224"/>
            <a:ext cx="32461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THE UNLOCK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Five controls turn autonomy 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Just-in-time ephemeral scoped tokens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Human-in-the-loop for every state-mutating operation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Signed manifests and agent cards; allowlists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Continuous monitoring and audit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4800"/>
            <a:ext cx="11185855" cy="7863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100FF"/>
                </a:solidFill>
                <a:latin typeface="Arial"/>
              </a:rPr>
              <a:t>The strategic implication   </a:t>
            </a:r>
            <a:r>
              <a:rPr sz="1100" b="0">
                <a:solidFill>
                  <a:srgbClr val="FFFFFF"/>
                </a:solidFill>
                <a:latin typeface="Arial"/>
              </a:rPr>
              <a:t>Every consulting engagement in Horizon 1 is, underneath, a trust engineering engagement. That is a services business — not a software business — and it is ours to take.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88% incident rate plus 14.4% approval rate is the commercial opening: assurance is the highest willingness-to-pay category in the stack.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WHERE HORIZON-1 VALUE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Because trust gates autonomy, Horizon-1 value sits where a human still approves — enterprise and B2B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8311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1691640"/>
                <a:gridCol w="4160520"/>
                <a:gridCol w="1417320"/>
                <a:gridCol w="112471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LIFECYCLE STAGE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EVIDENCE OF VALUE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AUTONOMY LEVEL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EXPOSURE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Procurement research and shortlisting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Discovery → evaluation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51% of B2B software buyers now begin in an AI chatbot; 69% chose a different vendor than planned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Recommendatory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Quote-to-cash and PO matching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Authorisation → ordering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Up to 80% cycle-time reduction in PO processing (PwC); 40–60% cycle cuts (Salesforce)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Approval-based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Credit risk memos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Evaluation → decision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20–60% productivity gain and 30% credit-turnaround improvement at a US bank (McKinsey)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Approval-based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Financial crime and compliance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Service → renewal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FIS + Anthropic Financial Crimes AI Agent; BMO and Amalgamated Bank as early deployers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Governed, auditable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Inventory monitoring and replenishment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Ordering → fulfilment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Agents monitor stock, compare terms and trigger purchases inside existing contracts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Bounded autonomy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Customer service and disruption recovery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Malaysia Airlines “Mavis” end-to-end service agent; Navan travel rebooking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Bounded autonomy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Consumer discovery and comparison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Discovery → evaluation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High adoption — but the transaction step stalls on trust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Recommendatory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High at checkout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four highlighted use cases combine quantified production outcomes with low exposure. They are where the first engagement should start — in every sector.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AUTONOMY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Ten gates must all pass before a use case may execute autonomously — and they cannot be averaged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7393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66543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Identified actor and 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57276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57276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77393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066543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Authenticated identity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56" y="157276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0056" y="157276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77393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66543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Delegated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57276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157276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77393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2066543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Data rights and permissions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7192" y="157276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192" y="157276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77393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2066543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Secure capability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85292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85292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05409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3346704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Transaction limits and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285292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61488" y="285292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305409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3346704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Human intervention and reversibility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0056" y="285292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056" y="285292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305409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346704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Evaluation and 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8624" y="285292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78624" y="285292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8" y="305409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8" y="3346704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Audit evidence and incident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37192" y="2852928"/>
            <a:ext cx="2176272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37192" y="2852928"/>
            <a:ext cx="2176272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83496" y="305409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E82FF"/>
                </a:solidFill>
                <a:latin typeface="Arial"/>
              </a:rPr>
              <a:t>GATE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3496" y="3346704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4"/>
                </a:solidFill>
                <a:latin typeface="Arial"/>
              </a:rPr>
              <a:t>Legal review and acceptable unit economics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370832"/>
            <a:ext cx="11185855" cy="8412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535424"/>
            <a:ext cx="1063721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E82FF"/>
                </a:solidFill>
                <a:latin typeface="Arial"/>
              </a:rPr>
              <a:t>Why this matters for the diagnostic   </a:t>
            </a:r>
            <a:r>
              <a:rPr sz="1050" b="0">
                <a:solidFill>
                  <a:srgbClr val="FFFFFF"/>
                </a:solidFill>
                <a:latin typeface="Arial"/>
              </a:rPr>
              <a:t>A maturity score that averages these ten gates hides the single one that will stop the programme. We report the index only alongside its bottleneck and its failed gates.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This gate list is the spine of the proprietary diagnostic in section 04 — it is the part clients cannot self-assemble from open tooling.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A100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Value accrues to
control points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A6"/>
                </a:solidFill>
                <a:latin typeface="Arial"/>
              </a:rPr>
              <a:t>Protocols are converging on open governance — and therefore commoditising.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0972" cy="329184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 THIS SECTION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Six architectural layers, and why no protocol spans them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nine-protocol register, verified as of 18 August 2026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Where MCP fits — and the four jobs it is wrong for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nine scarce control points where value accrues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Who gains and who loses as value migrates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Twelve business-model archetypes, scored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Agentic commerce needs six architectural layers — and no single protocol spans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502920" y="1572768"/>
            <a:ext cx="310896" cy="3822191"/>
          </a:xfrm>
          <a:prstGeom prst="upArrow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72768"/>
            <a:ext cx="274320" cy="3822191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500C0"/>
                </a:solidFill>
                <a:latin typeface="Arial"/>
              </a:rPr>
              <a:t>HIGHER AUTONOMY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57276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1572768"/>
            <a:ext cx="530352" cy="56692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72821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66420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Operations and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66420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Observability, evaluation, audit, incident response,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7888" y="169164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66420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60073"/>
                </a:solidFill>
                <a:latin typeface="Arial"/>
              </a:rPr>
              <a:t>OpenTelemetry GenAI · OWASP · NIST AI RMF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21284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" y="2212848"/>
            <a:ext cx="530352" cy="566928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6829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30428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Trust and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30428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Delegated authority, mandates, payment, settlement, liability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33172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30428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500C0"/>
                </a:solidFill>
                <a:latin typeface="Arial"/>
              </a:rPr>
              <a:t>AP2 · Verifiable Intent · Trusted Agent · x402 · card rails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285292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" y="2852928"/>
            <a:ext cx="530352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00837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294436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Process and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94436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Systems of record, workflow, approval chains, fulfilment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297180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294436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ERP · EDI · iPaaS · RPA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49300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3493008"/>
            <a:ext cx="530352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64845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58444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Agent coordination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358444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Delegation, collaboration, multi-agent orchestration across boundaries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61188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358444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A2A v1.0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13308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80160" y="4133088"/>
            <a:ext cx="530352" cy="56692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8853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422452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Capability exposure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42245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Tools, context, data access, capability invocation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47888" y="425196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422452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500C0"/>
                </a:solidFill>
                <a:latin typeface="Arial"/>
              </a:rPr>
              <a:t>MCP 2026-07-28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0160" y="4773168"/>
            <a:ext cx="104086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80160" y="4773168"/>
            <a:ext cx="530352" cy="56692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92861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8528" y="486460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Experience and access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486460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Assistants, storefronts, channels, agent discovery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7888" y="4892040"/>
            <a:ext cx="10972" cy="329184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8" y="4864608"/>
            <a:ext cx="30751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500C0"/>
                </a:solidFill>
                <a:latin typeface="Arial"/>
              </a:rPr>
              <a:t>ACP · UCP · assistant surfaces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Treating MCP as “the commerce stack” is a category error. It owns layer 2 decisively and touches nothing else.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PROTOCOL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Nine mechanisms matter today — and every one of them is converging on open, foundation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83112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768"/>
                <a:gridCol w="566928"/>
                <a:gridCol w="2514600"/>
                <a:gridCol w="1572768"/>
                <a:gridCol w="1572768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PROTOCOL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ADOPTION EVIDENCE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MCP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Agent-to-tool and data connectivity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2026-07-28 stateless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LF Projects / AAIF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~½bn monthly SDK downloads; ~41% in production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A2A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Cross-vendor agent communication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v1.0, 9 Apr 2026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Linux Foundation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150+ orgs; Vertex, AgentCore, AI Foundry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ACP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Agent-to-merchant checkout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Beta, Apache 2.0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OpenAI / Stripe / Meta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PayPal, Agentforce — but scaled back Mar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UCP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Full shopping journey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v2026-04-08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Google + Shopify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20+ endorsers; Walmart, Target, Etsy, Visa, Mastercard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AP2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Delegated payment mandates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v0.2, Apr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FIDO Alliance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60+ partners; extends A2A and MCP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Verifiable Intent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Tamper-proof log of authorised actions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Contributed May 2026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FIDO (Mastercard)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Payments TWG chaired by Mastercard and Visa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Trusted Agent Protocol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Distinguish legitimate agents from bots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Open spec, Oct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Visa-led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Cloudflare, Akamai, Adyen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x402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HTTP-native payments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Operational 14 Jul 2026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x402 Fdn / Linux Fdn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40 members — but volume heavily gamified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1">
                          <a:solidFill>
                            <a:srgbClr val="1A1A24"/>
                          </a:solidFill>
                          <a:latin typeface="Arial"/>
                        </a:rPr>
                        <a:t>REST, EDI, RPA, iPaaS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2 / 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Existing integration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Mature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Various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30" b="0">
                          <a:solidFill>
                            <a:srgbClr val="1A1A24"/>
                          </a:solidFill>
                          <a:latin typeface="Arial"/>
                        </a:rPr>
                        <a:t>Often sufficient — and often the right answer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Standards position is worth having. Building a proprietary protocol is not — foundation governance will commoditise every one of these.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PROTOCOL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MCP is the right tool for capability exposure — and the wrong tool for four other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1572768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A1A24"/>
                </a:solidFill>
                <a:latin typeface="Arial"/>
              </a:rPr>
              <a:t>Where MCP is the best fit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Exposing enterprise tools and data to agents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Internal agent-to-tool connectivity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Anywhere an agent must discover and invoke a capability at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A1A24"/>
                </a:solidFill>
                <a:latin typeface="Arial"/>
              </a:rPr>
              <a:t>Where MCP needs complements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7500C0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Cross-organisation coordination → A2A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7500C0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Commerce semantics → ACP or UCP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7500C0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Payment authority → AP2 / Verifiable Intent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7500C0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Settlement → x402 or card 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10128"/>
            <a:ext cx="5440680" cy="1572768"/>
          </a:xfrm>
          <a:prstGeom prst="rect">
            <a:avLst/>
          </a:prstGeom>
          <a:solidFill>
            <a:srgbClr val="F4F4F6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5440680" cy="32004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A1A24"/>
                </a:solidFill>
                <a:latin typeface="Arial"/>
              </a:rPr>
              <a:t>Where existing APIs suffice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Deterministic, high-volume B2B transactions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EDI and REST flows with no goal interpretation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Anything that does not meet the agentic 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3310128"/>
            <a:ext cx="5440680" cy="1572768"/>
          </a:xfrm>
          <a:prstGeom prst="rect">
            <a:avLst/>
          </a:prstGeom>
          <a:solidFill>
            <a:srgbClr val="F4F4F6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45352" y="3310128"/>
            <a:ext cx="5440680" cy="32004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2958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1A1A24"/>
                </a:solidFill>
                <a:latin typeface="Arial"/>
              </a:rPr>
              <a:t>Where MCP adds avoidable complexity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Simple request-response integrations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Any integration with no agent in the loop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>
                <a:solidFill>
                  <a:srgbClr val="6E6E78"/>
                </a:solidFill>
                <a:latin typeface="Arial"/>
              </a:rPr>
              <a:t>▪  </a:t>
            </a:r>
            <a:r>
              <a:rPr sz="919" b="0">
                <a:solidFill>
                  <a:srgbClr val="3A3A46"/>
                </a:solidFill>
                <a:latin typeface="Arial"/>
              </a:rPr>
              <a:t>Deterministic RPA dressed up as agentic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Gartner projects 75% of API-gateway vendors will ship MCP features by end-2026 — the product opportunity is protocol gateways, adapters and a governed semantic layer above MCP.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Connectivity will be commoditised — value accrues to nine scarce control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529584" y="1929384"/>
            <a:ext cx="2564892" cy="1572768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4476" y="1929384"/>
            <a:ext cx="0" cy="1572768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094476" y="1929384"/>
            <a:ext cx="2564892" cy="1572768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00784" y="2898648"/>
            <a:ext cx="4393692" cy="603504"/>
          </a:xfrm>
          <a:prstGeom prst="line">
            <a:avLst/>
          </a:prstGeom>
          <a:ln w="190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94476" y="2898648"/>
            <a:ext cx="4393692" cy="603504"/>
          </a:xfrm>
          <a:prstGeom prst="line">
            <a:avLst/>
          </a:prstGeom>
          <a:ln w="190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00784" y="3502152"/>
            <a:ext cx="4393692" cy="896112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94476" y="3502152"/>
            <a:ext cx="4393692" cy="896112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29584" y="3502152"/>
            <a:ext cx="2564892" cy="1536192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094476" y="3502152"/>
            <a:ext cx="2564892" cy="1536192"/>
          </a:xfrm>
          <a:prstGeom prst="line">
            <a:avLst/>
          </a:prstGeom>
          <a:ln w="12700">
            <a:solidFill>
              <a:srgbClr val="D9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31720" y="157276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8024" y="16733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01   </a:t>
            </a:r>
            <a:r>
              <a:rPr sz="700" b="1">
                <a:solidFill>
                  <a:srgbClr val="6E6E78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1856231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Customer and enterprise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6612" y="157276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2916" y="16733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02   </a:t>
            </a:r>
            <a:r>
              <a:rPr sz="700" b="1">
                <a:solidFill>
                  <a:srgbClr val="6E6E78"/>
                </a:solidFill>
                <a:latin typeface="Arial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2916" y="1856231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Proprietary domain data and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157276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6733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03   </a:t>
            </a:r>
            <a:r>
              <a:rPr sz="700" b="1">
                <a:solidFill>
                  <a:srgbClr val="6E6E78"/>
                </a:solidFill>
                <a:latin typeface="Arial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1856231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Differentiated executable capabilities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542032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9F4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2642615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04   </a:t>
            </a:r>
            <a:r>
              <a:rPr sz="700" b="1">
                <a:solidFill>
                  <a:srgbClr val="7500C0"/>
                </a:solidFill>
                <a:latin typeface="Arial"/>
              </a:rPr>
              <a:t>VERY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282549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Identity, authority and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2542032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9F4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642615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05   </a:t>
            </a:r>
            <a:r>
              <a:rPr sz="700" b="1">
                <a:solidFill>
                  <a:srgbClr val="7500C0"/>
                </a:solidFill>
                <a:latin typeface="Arial"/>
              </a:rPr>
              <a:t>VERY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82549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Transaction and payment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14223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06   </a:t>
            </a:r>
            <a:r>
              <a:rPr sz="700" b="1">
                <a:solidFill>
                  <a:srgbClr val="6E6E78"/>
                </a:solidFill>
                <a:latin typeface="Arial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325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Trusted distribution and ecosystem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0304" y="404164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6608" y="414223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07   </a:t>
            </a:r>
            <a:r>
              <a:rPr sz="700" b="1">
                <a:solidFill>
                  <a:srgbClr val="6E6E78"/>
                </a:solidFill>
                <a:latin typeface="Arial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43251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Workflow embedding and switching costs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31720" y="468172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78024" y="47823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08   </a:t>
            </a:r>
            <a:r>
              <a:rPr sz="700" b="1">
                <a:solidFill>
                  <a:srgbClr val="6E6E78"/>
                </a:solidFill>
                <a:latin typeface="Arial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8024" y="496519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Assurance, evaluation and accountability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1504" y="4681728"/>
            <a:ext cx="23957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47823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E82FF"/>
                </a:solidFill>
                <a:latin typeface="Arial"/>
              </a:rPr>
              <a:t>09   </a:t>
            </a:r>
            <a:r>
              <a:rPr sz="700" b="1">
                <a:solidFill>
                  <a:srgbClr val="6E6E78"/>
                </a:solidFill>
                <a:latin typeface="Arial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496519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A1A24"/>
                </a:solidFill>
                <a:latin typeface="Arial"/>
              </a:rPr>
              <a:t>Proprietary outcome data and learning loops</a:t>
            </a:r>
          </a:p>
        </p:txBody>
      </p:sp>
      <p:sp>
        <p:nvSpPr>
          <p:cNvPr id="42" name="Oval 41"/>
          <p:cNvSpPr/>
          <p:nvPr/>
        </p:nvSpPr>
        <p:spPr>
          <a:xfrm>
            <a:off x="4837176" y="2926080"/>
            <a:ext cx="2514600" cy="1152144"/>
          </a:xfrm>
          <a:prstGeom prst="ellipse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0056" y="323697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Durable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Identity/authority and transaction orchestration are the two very-high-defensibility points — and both are exactly where the card networks and FIDO are consolidating.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VALUE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Value migrates from human-facing discovery to machine-readable capability, identity and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3246120"/>
          </a:xfrm>
          <a:prstGeom prst="rect">
            <a:avLst/>
          </a:prstGeom>
          <a:solidFill>
            <a:srgbClr val="F9F4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10512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7500C0"/>
                </a:solidFill>
                <a:latin typeface="Arial"/>
              </a:rPr>
              <a:t>LIKELY TO GAIN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Payment networks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They own settlement, credentialing, fraud — and now the trust layer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Identity and trust providers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FIDO, Okta, Cloudflare, Akamai: agent authentication and delegated-authority credentials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Hyperscalers and cloud platforms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They own the agent runtime and the gateway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Well-integrated marketplaces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Structured catalogues become the moat — Shopify Agentic Storefronts, Google Shopping Graph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Data and knowledge providers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Differentiated inputs become directly monetisable per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3246120"/>
          </a:xfrm>
          <a:prstGeom prst="rect">
            <a:avLst/>
          </a:prstGeom>
          <a:solidFill>
            <a:srgbClr val="F4F4F6"/>
          </a:solidFill>
          <a:ln w="1143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6E6E78"/>
                </a:solidFill>
                <a:latin typeface="Arial"/>
              </a:rPr>
              <a:t>LIKELY TO LOSE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Pure discovery and SEO intermediaries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The 8,000-vendor martech stack assumes buyers arrive at seller environments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Online travel agencies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Disintermediation risk is highest in travel distribution — OTA channel cost is 15–25% of room revenue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Merchants with poor machine-readable data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Agents route around unparseable suppliers — the penalty is silent and total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Retail discovery advertising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Retail media must be reinvented for a reader that is not human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24"/>
                </a:solidFill>
                <a:latin typeface="Arial"/>
              </a:rPr>
              <a:t>Anyone betting on a single protocol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880" b="0" i="0">
                <a:solidFill>
                  <a:srgbClr val="6E6E78"/>
                </a:solidFill>
                <a:latin typeface="Arial"/>
              </a:rPr>
              <a:t>Foundation governance is commoditising the layer they hoped to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losing side is not losing to a competitor — it is losing to a reader that never visits. That is why data and capability readiness is the no-regret first move.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BUSINESS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Twelve archetypes exist — but only five combine high defensibility with a Horizon-1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74552" cy="3602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2148840"/>
                <a:gridCol w="2651760"/>
                <a:gridCol w="2011680"/>
                <a:gridCol w="89611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ARCHETYPE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PAYER / BENEFICIARY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MONETISATION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DEFENSIBILITY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Identity, authority and trust provider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 and networks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Per-credential, subscription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H1–H3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Payment and settlement provider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Merchants and agents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Interchange, take-rate, FX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H1–H3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Evaluation, security and assurance provider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Subscription, services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H1–H2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Managed agent-operations provider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Managed fee, outcome-linked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H1–H2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Orchestration platform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Consumption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H1–H3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Enterprise agent provider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Licence, seat, usage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H1–H2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Merchant capability provider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Merchants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Platform fee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H1–H2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Data and knowledge provider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Agents and enterprises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Access licensing, x402 per call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H2–H3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Demand-side personal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Consumers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Subscription, take-rate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Low — assistant-dependent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H2–H3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Agent marketplace or broker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Both sides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Take-rate, listing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 if liquidity achieved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Outcome-based autonomous operator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Enterprises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Success fee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High but capital-intensive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A1A24"/>
                          </a:solidFill>
                          <a:latin typeface="Arial"/>
                        </a:rPr>
                        <a:t>Machine-resource marketplace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Machines and agents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Micro take-rate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A1A24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five highlighted archetypes are where the firm should play. Four of the five are services businesses — which is the one place we start with an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A100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Where it lands,
and when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A6"/>
                </a:solidFill>
                <a:latin typeface="Arial"/>
              </a:rPr>
              <a:t>Three horizons, six sectors, one ranking.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0972" cy="329184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 THIS SECTION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three-horizon interpretation — scenarios, not forecasts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Six sectors ranked on Horizon-1 readiness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Financial services: the most production-ready sector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Retail: the most hyped and the least mature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B2B and manufacturing: hardest, largest, data-gated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Professional services: our own disruption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THREE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The restructuring is a three-to-seven year phenomenon — the next 18 months are foundations and bounded pilots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47088"/>
            <a:ext cx="10454335" cy="27432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8388" y="1755648"/>
            <a:ext cx="128016" cy="12801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Now</a:t>
            </a:r>
          </a:p>
        </p:txBody>
      </p:sp>
      <p:sp>
        <p:nvSpPr>
          <p:cNvPr id="9" name="Oval 8"/>
          <p:cNvSpPr/>
          <p:nvPr/>
        </p:nvSpPr>
        <p:spPr>
          <a:xfrm>
            <a:off x="4384548" y="1755648"/>
            <a:ext cx="128016" cy="12801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5544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18 months</a:t>
            </a:r>
          </a:p>
        </p:txBody>
      </p:sp>
      <p:sp>
        <p:nvSpPr>
          <p:cNvPr id="11" name="Oval 10"/>
          <p:cNvSpPr/>
          <p:nvPr/>
        </p:nvSpPr>
        <p:spPr>
          <a:xfrm>
            <a:off x="7950708" y="1755648"/>
            <a:ext cx="128016" cy="12801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36 months</a:t>
            </a:r>
          </a:p>
        </p:txBody>
      </p:sp>
      <p:sp>
        <p:nvSpPr>
          <p:cNvPr id="13" name="Oval 12"/>
          <p:cNvSpPr/>
          <p:nvPr/>
        </p:nvSpPr>
        <p:spPr>
          <a:xfrm>
            <a:off x="11196828" y="1755648"/>
            <a:ext cx="128016" cy="12801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5544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7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39696"/>
            <a:ext cx="3602736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139696"/>
            <a:ext cx="3602736" cy="56692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3113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HORIZON 1   0–18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450591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52928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Bounded pilots with human-in-the-loop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Internal workflow automation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Machine-readable capability exposure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Protocol experimentation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Data and catalogue preparation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Security, evaluation and observability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Unit-level value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139696"/>
            <a:ext cx="3602736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2139696"/>
            <a:ext cx="3602736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223113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HORIZON 2   18–36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450591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852928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Scaled production deployment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Cross-enterprise A2A coordination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Agent-enabled channels (UCP / ACP)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Delegated transactional authority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Operating-model redesign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Partner and platform restructuring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Outcome and usage-based monetisation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1" y="2139696"/>
            <a:ext cx="3602736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1" y="2139696"/>
            <a:ext cx="3602736" cy="56692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3113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60073"/>
                </a:solidFill>
                <a:latin typeface="Arial"/>
              </a:rPr>
              <a:t>HORIZON 3   3–7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450591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60073"/>
                </a:solidFill>
                <a:latin typeface="Arial"/>
              </a:rPr>
              <a:t>Frontier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852928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Persistent autonomous agents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Machine-to-machine purchasing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Agent marketplaces and brokers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Dynamic contracting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Machine-speed micropayments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New economic actors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BE82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Ecosystem restructuring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McKinsey’s $3–5 trillion figure is a Horizon-3 scenario, not a Horizon-1 fact. Forecasts across sources range 35× — treat every one of them as a scenario to test.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SECTOR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Six sectors, one ranking: financial services is ready now; retail is the most hyped and the least mature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74551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/>
                <a:gridCol w="2880360"/>
                <a:gridCol w="1874519"/>
                <a:gridCol w="2834640"/>
                <a:gridCol w="311810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SECTOR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HORIZON-1 READINESS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WHERE THE VALUE IS NOW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THE CONTROL POINT TO HOLD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Financial services, payments, insurance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High — production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Credit, financial crime, claims, service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Governance-first deployment and the settlement rails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Manufacturing and B2B distribution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Medium-high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Procurement, quote-to-cash, PO matching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Machine-readable supplier and product data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Travel and hospitality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Medium-high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Booking, rebooking, disruption recovery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Real-time machine-readable availability; direct-booking recapture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Professional services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Research, drafting, review, diligence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Outcome-based pricing capability and delivery IP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Telecommunications and technology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Medium — operations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Network operations, provisioning, NOC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Exposing connectivity, identity and billing as agent-callable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FMCG, consumer products, retail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Low on transaction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Discovery and comparison only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Catalogue normalisation, retail-media reinvention, identity linking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Readiness tracks one variable: whether a human already sits on the authorisation step. Sectors that already have approval chains are ready; sectors that rely on impulse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SECTOR SPOTLIGHT: FINANCIAL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Financial services is the most production-ready sector — and governance-first is the winning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670048" cy="1627632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576" cy="16276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10512"/>
            <a:ext cx="226771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70%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of banking leaders are deploying or exploring agentic AI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Sector survey,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572768"/>
            <a:ext cx="2670048" cy="1627632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1572768"/>
            <a:ext cx="36576" cy="16276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10512"/>
            <a:ext cx="226771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30–50%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workload reduction reported in banking operations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Cost-to-serve is the primary driver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2670048" cy="1627632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572768"/>
            <a:ext cx="36576" cy="16276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10512"/>
            <a:ext cx="226771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20–60%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productivity gain on credit memos, with 30% faster turnaround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McKinsey, US bank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272" y="1572768"/>
            <a:ext cx="2670048" cy="1627632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4272" y="1572768"/>
            <a:ext cx="36576" cy="16276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810512"/>
            <a:ext cx="226771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A100FF"/>
                </a:solidFill>
                <a:latin typeface="Arial"/>
              </a:rPr>
              <a:t>80%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A1A24"/>
                </a:solidFill>
                <a:latin typeface="Arial"/>
              </a:rPr>
              <a:t>faster insurance claims handling; near-instant settlements cited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Allianz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01568"/>
            <a:ext cx="544068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34015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21024"/>
            <a:ext cx="5074920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PLATFORM CONSOLIDATION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The core providers have already shipped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Fiserv agentOS; FIS with Anthropic for financial crime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Oracle Financial Services agentic platform, extended to corporate banking April 2026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Wolters Kluwer: 44% of finance teams expected to use agentic AI in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401568"/>
            <a:ext cx="5440680" cy="1499616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45352" y="3401568"/>
            <a:ext cx="5440680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621024"/>
            <a:ext cx="5074920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THE RAILS LAND-GRAB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Payments is the epicentre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Visa Intelligent Commerce Connect; Mastercard Agent Pay and AP4M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Mastercard’s BVNK acquisition closed 3 August 2026 for up to $1.8bn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Nearly half of banks and insurers are creating dedicated agent-supervision 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“Compliance as a design directive” is the sector’s own language for our assurance proposition — sell it in their words, not ours.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SECTOR SPOTLIGHT: RETAIL AND 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Retail is the most hyped and the least mature — the durable pattern is “discover in AI, buy on site”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2011680"/>
          </a:xfrm>
          <a:prstGeom prst="rect">
            <a:avLst/>
          </a:prstGeom>
          <a:solidFill>
            <a:srgbClr val="F4F4F6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32004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23697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6E6E78"/>
                </a:solidFill>
                <a:latin typeface="Arial"/>
              </a:rPr>
              <a:t>THE REALITY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Discovery adoption is high; transaction adoption is not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E6E78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A majority of consumers now use AI in shopping research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E6E78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Only 17% are comfortable completing the purchase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E6E78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OpenAI retreat; Walmart’s ~3× worse in-chat conversion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572768"/>
            <a:ext cx="3602736" cy="2011680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88536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792224"/>
            <a:ext cx="323697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THE CONTROL POINTS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Three things worth owning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Machine-readable product data — catalogue normalisation is the moat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Retail media reinvented for a non-human reader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Loyalty and identity linking — UCP added Identity Linking in March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2" y="1572768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074152" y="1572768"/>
            <a:ext cx="3611880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92224"/>
            <a:ext cx="3246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THE LIKELY WINNERS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Structured catalogues, not big brands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Shopify Agentic Storefronts activate UCP and native MCP by default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Google Shopping Graph plus Merchant Center plus Google Pay plus UCP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460073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This combination is the live closed-platform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85615"/>
            <a:ext cx="11185855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93192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7500C0"/>
                </a:solidFill>
                <a:latin typeface="Arial"/>
              </a:rPr>
              <a:t>THE SEQUENCING WE RECOMMEND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Horizon 1  </a:t>
            </a:r>
            <a:r>
              <a:rPr sz="950" b="0">
                <a:solidFill>
                  <a:srgbClr val="1A1A24"/>
                </a:solidFill>
                <a:latin typeface="Arial"/>
              </a:rPr>
              <a:t>Data and catalogue readiness; agent discoverability.    </a:t>
            </a:r>
            <a:r>
              <a:rPr sz="950" b="1">
                <a:solidFill>
                  <a:srgbClr val="A100FF"/>
                </a:solidFill>
                <a:latin typeface="Arial"/>
              </a:rPr>
              <a:t>Horizon 2  </a:t>
            </a:r>
            <a:r>
              <a:rPr sz="950" b="0">
                <a:solidFill>
                  <a:srgbClr val="1A1A24"/>
                </a:solidFill>
                <a:latin typeface="Arial"/>
              </a:rPr>
              <a:t>Agent-enabled channels; participate in UCP and ACP without betting on either.    </a:t>
            </a:r>
            <a:r>
              <a:rPr sz="950" b="1">
                <a:solidFill>
                  <a:srgbClr val="A100FF"/>
                </a:solidFill>
                <a:latin typeface="Arial"/>
              </a:rPr>
              <a:t>Horizon 3  </a:t>
            </a:r>
            <a:r>
              <a:rPr sz="950" b="0">
                <a:solidFill>
                  <a:srgbClr val="1A1A24"/>
                </a:solidFill>
                <a:latin typeface="Arial"/>
              </a:rPr>
              <a:t>Autonomous replenishment.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Never open a retail conversation with checkout. Open it with catalogue readiness — it is the prerequisite for every later move and it pays back regardless of how autonomy lands.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SECTOR SPOTLIGHT: B2B AND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B2B is structurally the hardest and commercially the largest — and data quality is the competitive weapon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THE SIZE OF THE PRIZE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The largest single value pool in the research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Gartner: by 2028, 90% of B2B buying will be AI-agent intermediated, pushing over $15 trillion of B2B spend through agent exchanges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Forrester: ~20% of B2B sellers will face agent-led quote negotiations during 2026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G2: 51% of B2B software buyers now begin in an AI chatbot; 69% switched vendor on chatbot guidance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92224"/>
            <a:ext cx="507492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460073"/>
                </a:solidFill>
                <a:latin typeface="Arial"/>
              </a:rPr>
              <a:t>WHY IT IS HARD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Negotiated contracts, approval chains, EDI legacy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Autonomous transaction is structurally hardest where terms are negotiated rather than listed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Existing EDI and REST flows are often sufficient — and MCP would add avoidable complexity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Oracle a Leader in the 2026 Gartner MQ for Source-to-Pay; SAP Catalog Optimization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46704"/>
            <a:ext cx="5440680" cy="1554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46704"/>
            <a:ext cx="41148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COMPETITIVE WEAPON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$15M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B4BE"/>
                </a:solidFill>
                <a:latin typeface="Arial"/>
              </a:rPr>
              <a:t>average annual loss from poor data quality (Mirakl) — and it compounds under agentic procurement, because agents simply route around unparseable suppliers. The penalty is silent: you are not outbid, you are never surfaced.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3346704"/>
            <a:ext cx="5440680" cy="1554480"/>
          </a:xfrm>
          <a:prstGeom prst="rect">
            <a:avLst/>
          </a:prstGeom>
          <a:solidFill>
            <a:srgbClr val="F9F4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45352" y="3346704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566160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1" i="0">
                <a:solidFill>
                  <a:srgbClr val="A100FF"/>
                </a:solidFill>
                <a:latin typeface="Arial"/>
              </a:rPr>
              <a:t>THE AUTONOMY PROGRESSION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Earn each step — do not skip one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1. Research and market scanning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2. Shortlisting and recommendation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3. Approval-based ordering inside existing contracts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▪  </a:t>
            </a:r>
            <a:r>
              <a:rPr sz="900" b="0">
                <a:solidFill>
                  <a:srgbClr val="3A3A46"/>
                </a:solidFill>
                <a:latin typeface="Arial"/>
              </a:rPr>
              <a:t>4. Bounded negotiation within pre-agreed parameters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Sell data readiness as revenue protection, not as an IT programme. In an agent-mediated market, unparseable is indistinguishable from absent.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SECTOR SPOTLIGHT: PROFESSIONAL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Our own industry is the clearest business-model disruption — and outcome-based pricing is arriving more slowly than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3246120"/>
          </a:xfrm>
          <a:prstGeom prst="rect">
            <a:avLst/>
          </a:prstGeom>
          <a:solidFill>
            <a:srgbClr val="F9F4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10512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7500C0"/>
                </a:solidFill>
                <a:latin typeface="Arial"/>
              </a:rPr>
              <a:t>THE SIGNAL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McKinsey  </a:t>
            </a:r>
            <a:r>
              <a:rPr sz="950" b="0">
                <a:solidFill>
                  <a:srgbClr val="6E6E78"/>
                </a:solidFill>
                <a:latin typeface="Arial"/>
              </a:rPr>
              <a:t>~25% of global fees now outcome-linked; “Lilli” deployed at scale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BCG  </a:t>
            </a:r>
            <a:r>
              <a:rPr sz="950" b="0">
                <a:solidFill>
                  <a:srgbClr val="6E6E78"/>
                </a:solidFill>
                <a:latin typeface="Arial"/>
              </a:rPr>
              <a:t>expects AI-tied work at ~40% of revenue in 2026, up from ~20% in 2024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Bain  </a:t>
            </a:r>
            <a:r>
              <a:rPr sz="950" b="0">
                <a:solidFill>
                  <a:srgbClr val="6E6E78"/>
                </a:solidFill>
                <a:latin typeface="Arial"/>
              </a:rPr>
              <a:t>~30% today, heading toward 50%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Accenture  </a:t>
            </a:r>
            <a:r>
              <a:rPr sz="950" b="0">
                <a:solidFill>
                  <a:srgbClr val="6E6E78"/>
                </a:solidFill>
                <a:latin typeface="Arial"/>
              </a:rPr>
              <a:t>$3.6bn AI bookings in FY2025 — up 120% year on year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EY and Deloitte  </a:t>
            </a:r>
            <a:r>
              <a:rPr sz="950" b="0">
                <a:solidFill>
                  <a:srgbClr val="6E6E78"/>
                </a:solidFill>
                <a:latin typeface="Arial"/>
              </a:rPr>
              <a:t>have both published the accounting playbooks: EY on outcome-based pricing under ASC 606 (17 Feb 2026); Deloitte DART on agentic-AI pricing (4 Jun 2026)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1A1A24"/>
                </a:solidFill>
                <a:latin typeface="Arial"/>
              </a:rPr>
              <a:t>Legal  </a:t>
            </a:r>
            <a:r>
              <a:rPr sz="950" b="0">
                <a:solidFill>
                  <a:srgbClr val="6E6E78"/>
                </a:solidFill>
                <a:latin typeface="Arial"/>
              </a:rPr>
              <a:t>Harvey at 1,300+ organisations and 100,000+ lawyers; LexisNexis Protégé GA with 300+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72768"/>
            <a:ext cx="5440680" cy="3246120"/>
          </a:xfrm>
          <a:prstGeom prst="rect">
            <a:avLst/>
          </a:prstGeom>
          <a:solidFill>
            <a:srgbClr val="F4F4F6"/>
          </a:solidFill>
          <a:ln w="1143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6E6E78"/>
                </a:solidFill>
                <a:latin typeface="Arial"/>
              </a:rPr>
              <a:t>THE COUNTER-SIGNAL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80" b="1">
                <a:solidFill>
                  <a:srgbClr val="6E6E78"/>
                </a:solidFill>
                <a:latin typeface="Arial"/>
              </a:rPr>
              <a:t>▪  </a:t>
            </a:r>
            <a:r>
              <a:rPr sz="980" b="0">
                <a:solidFill>
                  <a:srgbClr val="1A1A24"/>
                </a:solidFill>
                <a:latin typeface="Arial"/>
              </a:rPr>
              <a:t>The shift is sluggish. Even at McKinsey, roughly 75% of fees remain traditional billing.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80" b="1">
                <a:solidFill>
                  <a:srgbClr val="6E6E78"/>
                </a:solidFill>
                <a:latin typeface="Arial"/>
              </a:rPr>
              <a:t>▪  </a:t>
            </a:r>
            <a:r>
              <a:rPr sz="980" b="0">
                <a:solidFill>
                  <a:srgbClr val="1A1A24"/>
                </a:solidFill>
                <a:latin typeface="Arial"/>
              </a:rPr>
              <a:t>No public data quantifies what share of contracts are actually being renegotiated to outcomes — the headline percentages describe intent, not executed contracts.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980" b="1">
                <a:solidFill>
                  <a:srgbClr val="6E6E78"/>
                </a:solidFill>
                <a:latin typeface="Arial"/>
              </a:rPr>
              <a:t>▪  </a:t>
            </a:r>
            <a:r>
              <a:rPr sz="980" b="0">
                <a:solidFill>
                  <a:srgbClr val="1A1A24"/>
                </a:solidFill>
                <a:latin typeface="Arial"/>
              </a:rPr>
              <a:t>Outcome pricing transfers delivery risk to us. Without the assurance and evaluation capability from section 01, that is an uninsured transfer.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6E6E78"/>
                </a:solidFill>
                <a:latin typeface="Arial"/>
              </a:rPr>
              <a:t>▪  </a:t>
            </a:r>
            <a:r>
              <a:rPr sz="980" b="0">
                <a:solidFill>
                  <a:srgbClr val="1A1A24"/>
                </a:solidFill>
                <a:latin typeface="Arial"/>
              </a:rPr>
              <a:t>The accounting treatment is only twelve months old — revenue recognition is a live constraint, not a solved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Treat outcome-based pricing as a capability to build deliberately over Horizon 2 — not as a forced pivot. Build the assurance capability first; it is what makes the risk transfer survivable.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A100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What we do
about it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A6"/>
                </a:solidFill>
                <a:latin typeface="Arial"/>
              </a:rPr>
              <a:t>Three theses, kept deliberately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0972" cy="329184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 THIS SECTION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Why conflating the three theses is the common strategic error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What we advise clients to fund — and to defer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What the firm should build, and refuse to build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Where the firm should invest externally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three-horizon roadmap, with two decision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THREE 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Three investment theses answer three different questions — conflating them is the most common strategic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6400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0078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   </a:t>
            </a:r>
            <a:r>
              <a:rPr sz="1250" b="1">
                <a:solidFill>
                  <a:srgbClr val="FFFFFF"/>
                </a:solidFill>
                <a:latin typeface="Arial"/>
              </a:rPr>
              <a:t>The client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140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What should our clients fund?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054096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Owner: industry and client-account leadership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Currency: client capital and client risk appetite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460073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Failure mode: recommending what we happen to sell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572768"/>
            <a:ext cx="36027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572768"/>
            <a:ext cx="3602736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170078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   </a:t>
            </a:r>
            <a:r>
              <a:rPr sz="1250" b="1">
                <a:solidFill>
                  <a:srgbClr val="FFFFFF"/>
                </a:solidFill>
                <a:latin typeface="Arial"/>
              </a:rPr>
              <a:t>The firm-capability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4140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What should we build ourselves?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3054096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Owner: practice and capability leadership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Currency: our own investment budget and partner time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Failure mode: building what open tooling will commoditise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1572768"/>
            <a:ext cx="36027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1" y="1572768"/>
            <a:ext cx="3602736" cy="64008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70078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60073"/>
                </a:solidFill>
                <a:latin typeface="Arial"/>
              </a:rPr>
              <a:t>C   </a:t>
            </a:r>
            <a:r>
              <a:rPr sz="1250" b="1">
                <a:solidFill>
                  <a:srgbClr val="460073"/>
                </a:solidFill>
                <a:latin typeface="Arial"/>
              </a:rPr>
              <a:t>The market 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140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Where should we invest, partner or acquire?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054096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Owner: corporate development and alliances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Currency: balance sheet and alliance slots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919" b="1">
                <a:solidFill>
                  <a:srgbClr val="A100FF"/>
                </a:solidFill>
                <a:latin typeface="Arial"/>
              </a:rPr>
              <a:t>▪  </a:t>
            </a:r>
            <a:r>
              <a:rPr sz="919" b="0">
                <a:solidFill>
                  <a:srgbClr val="6E6E78"/>
                </a:solidFill>
                <a:latin typeface="Arial"/>
              </a:rPr>
              <a:t>Failure mode: buying into a category we could simply partner 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Rank these three separately and review them separately. A category can be a strong client recommendation and a poor firm investment at the same time — observability is exactly that.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THESIS A — THE CLIENT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Advise clients to fund three no-regret foundations now, and to defer consumer autonomous checkout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83111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4760"/>
                <a:gridCol w="1874519"/>
                <a:gridCol w="777240"/>
                <a:gridCol w="473659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CLASSIFICATION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Machine-readable data and capability exposure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No-regret foundation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Prerequisite for every downstream use case — agents route around unparseable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Identity, delegated authority and consent architecture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No-regret foundation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The binding gate for any autonomous execution; the regulatory direction of travel (FIDO, HM Treasury)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Agent evaluation, observability and security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No-regret foundation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88% incident rate makes this a production blocker, not a maturity nicety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Bounded enterprise use cases with human-in-the-loop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Near-term priority</a:t>
                      </a:r>
                    </a:p>
                  </a:txBody>
                  <a:tcPr marL="64008" marR="64008" marT="27432" marB="27432" anchor="ctr">
                    <a:solidFill>
                      <a:srgbClr val="A10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Quantified ROI at low exposure — procurement, PO matching, financial crime, service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UCP / ACP participation and card-network agentic rails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Near-term priority</a:t>
                      </a:r>
                    </a:p>
                  </a:txBody>
                  <a:tcPr marL="64008" marR="64008" marT="27432" marB="27432" anchor="ctr">
                    <a:solidFill>
                      <a:srgbClr val="A10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Preserves channel access; hedge across both rather than picking a winner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Outcome-based and autonomous-operator models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460073"/>
                          </a:solidFill>
                          <a:latin typeface="Arial"/>
                        </a:rPr>
                        <a:t>Strategic option</a:t>
                      </a:r>
                    </a:p>
                  </a:txBody>
                  <a:tcPr marL="64008" marR="64008" marT="27432" marB="27432" anchor="ctr">
                    <a:solidFill>
                      <a:srgbClr val="BE8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H2–H3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High value but unproven economics and unresolved liability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Machine-native settlement (x402)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7500C0"/>
                          </a:solidFill>
                          <a:latin typeface="Arial"/>
                        </a:rPr>
                        <a:t>Monitor</a:t>
                      </a:r>
                    </a:p>
                  </a:txBody>
                  <a:tcPr marL="64008" marR="64008" marT="27432" marB="27432" anchor="ctr">
                    <a:solidFill>
                      <a:srgbClr val="F0E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Volume is largely gamified today — watch for genuine adoption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A1A24"/>
                          </a:solidFill>
                          <a:latin typeface="Arial"/>
                        </a:rPr>
                        <a:t>Building proprietary protocols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6E6E78"/>
                          </a:solidFill>
                          <a:latin typeface="Arial"/>
                        </a:rPr>
                        <a:t>Avoid</a:t>
                      </a:r>
                    </a:p>
                  </a:txBody>
                  <a:tcPr marL="64008" marR="64008" marT="27432" marB="27432" anchor="ctr">
                    <a:solidFill>
                      <a:srgbClr val="D9D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A1A24"/>
                          </a:solidFill>
                          <a:latin typeface="Arial"/>
                        </a:rPr>
                        <a:t>Protocols are commoditising under foundation governance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882896"/>
            <a:ext cx="11185855" cy="42062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495604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Default posture   </a:t>
            </a:r>
            <a:r>
              <a:rPr sz="950" b="1">
                <a:solidFill>
                  <a:srgbClr val="FFFFFF"/>
                </a:solidFill>
                <a:latin typeface="Arial"/>
              </a:rPr>
              <a:t>BUILD</a:t>
            </a:r>
            <a:r>
              <a:rPr sz="950" b="0">
                <a:solidFill>
                  <a:srgbClr val="B4B4BE"/>
                </a:solidFill>
                <a:latin typeface="Arial"/>
              </a:rPr>
              <a:t> data, capability and identity foundations ·  </a:t>
            </a:r>
            <a:r>
              <a:rPr sz="950" b="1">
                <a:solidFill>
                  <a:srgbClr val="FFFFFF"/>
                </a:solidFill>
                <a:latin typeface="Arial"/>
              </a:rPr>
              <a:t>BUY or PARTNER</a:t>
            </a:r>
            <a:r>
              <a:rPr sz="950" b="0">
                <a:solidFill>
                  <a:srgbClr val="B4B4BE"/>
                </a:solidFill>
                <a:latin typeface="Arial"/>
              </a:rPr>
              <a:t> for observability, security and payment rails ·  </a:t>
            </a:r>
            <a:r>
              <a:rPr sz="950" b="1">
                <a:solidFill>
                  <a:srgbClr val="FFFFFF"/>
                </a:solidFill>
                <a:latin typeface="Arial"/>
              </a:rPr>
              <a:t>DEFER</a:t>
            </a:r>
            <a:r>
              <a:rPr sz="950" b="0">
                <a:solidFill>
                  <a:srgbClr val="B4B4BE"/>
                </a:solidFill>
                <a:latin typeface="Arial"/>
              </a:rPr>
              <a:t> consumer autonomous checkout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three no-regret foundations pay back under every scenario in section 05 — including the ones where this thesis is wrong. That is what makes them the opening recommendation.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THESIS B — THE FIRM-CAPABILITY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The firm should build proprietary diagnostics and assurance IP — and should refuse to build an observability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83111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0440"/>
                <a:gridCol w="1874519"/>
                <a:gridCol w="3063240"/>
                <a:gridCol w="272491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CLASSIFICATION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COMMERCIAL MODEL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Proprietary agentic-commerce maturity diagnostic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No-regret foundation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Eight dimensions, ten gates, sector benchmarks; a 64–96 question bank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Recurring assessment revenue; lead-gen into transformation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Trust and control library plus assurance methodology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No-regret foundation</a:t>
                      </a:r>
                    </a:p>
                  </a:txBody>
                  <a:tcPr marL="64008" marR="64008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Six control domains mapped to a risk-control matrix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High willingness-to-pay given the 88% incident rate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Sector benchmarks and use-case libraries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Near-term priority</a:t>
                      </a:r>
                    </a:p>
                  </a:txBody>
                  <a:tcPr marL="64008" marR="64008" marT="27432" marB="27432" anchor="ctr">
                    <a:solidFill>
                      <a:srgbClr val="A10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Six priority sectors, reusable across engagements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Differentiation and delivery speed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Protocol accelerators, reusable MCP assets and adapters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Near-term priority</a:t>
                      </a:r>
                    </a:p>
                  </a:txBody>
                  <a:tcPr marL="64008" marR="64008" marT="27432" marB="27432" anchor="ctr">
                    <a:solidFill>
                      <a:srgbClr val="A10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Gateways, adapters and a governed semantic layer over MCP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Delivery speed plus recurring maintenance revenue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Evaluation and observability accelerators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Near-term priority</a:t>
                      </a:r>
                    </a:p>
                  </a:txBody>
                  <a:tcPr marL="64008" marR="64008" marT="27432" marB="27432" anchor="ctr">
                    <a:solidFill>
                      <a:srgbClr val="A10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Assembled on OpenTelemetry, Confident AI and Arthur — not built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Partner-led and fast to stand up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Managed agent-operations and assurance service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460073"/>
                          </a:solidFill>
                          <a:latin typeface="Arial"/>
                        </a:rPr>
                        <a:t>Strategic option</a:t>
                      </a:r>
                    </a:p>
                  </a:txBody>
                  <a:tcPr marL="64008" marR="64008" marT="27432" marB="27432" anchor="ctr">
                    <a:solidFill>
                      <a:srgbClr val="BE8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Monitoring, evaluation and incident response as a service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Recurring-revenue annuity; sticky by design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Acquisition of niche agent-security or evaluation boutiques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460073"/>
                          </a:solidFill>
                          <a:latin typeface="Arial"/>
                        </a:rPr>
                        <a:t>Strategic option</a:t>
                      </a:r>
                    </a:p>
                  </a:txBody>
                  <a:tcPr marL="64008" marR="64008" marT="27432" marB="27432" anchor="ctr">
                    <a:solidFill>
                      <a:srgbClr val="BE8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A fragmented market with real talent scarcity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Talent and IP acceleration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A1A24"/>
                          </a:solidFill>
                          <a:latin typeface="Arial"/>
                        </a:rPr>
                        <a:t>A full proprietary observability platform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6E6E78"/>
                          </a:solidFill>
                          <a:latin typeface="Arial"/>
                        </a:rPr>
                        <a:t>Avoid</a:t>
                      </a:r>
                    </a:p>
                  </a:txBody>
                  <a:tcPr marL="64008" marR="64008" marT="27432" marB="27432" anchor="ctr">
                    <a:solidFill>
                      <a:srgbClr val="D9D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Open tooling is moving too fast to out-run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A1A24"/>
                          </a:solidFill>
                          <a:latin typeface="Arial"/>
                        </a:rPr>
                        <a:t>Partner instead — the category will commoditise</a:t>
                      </a:r>
                    </a:p>
                  </a:txBody>
                  <a:tcPr marL="64008" marR="64008" marT="27432" marB="27432" anchor="ctr"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The strategy is assemble-then-build: wrap best-of-breed open tooling inside proprietary diagnostic and control IP, and build only the executive-assessment, prioritisation and benchmark layers where the IP is genuinely defensible.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THESIS C — THE MARKET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Externally, three categories are near-term priorities — and one is an explicit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41148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36776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Identity, delegated authority and trust for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673352"/>
            <a:ext cx="1572768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72821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NEAR-TERM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36776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Very high defensibility, standards-anchored at FIDO, high willingness-to-pay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7691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7691"/>
            <a:ext cx="41148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171699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Agent security, assurance and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208275"/>
            <a:ext cx="1572768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263139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NEAR-TERM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71699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High willingness-to-pay in a fragmented market with credible acquisition targets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42615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42615"/>
            <a:ext cx="41148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706623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Data readiness and machine-readable catalogue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743199"/>
            <a:ext cx="1572768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798063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NEAR-TERM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06623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Clear and quantified pain; buyers already understand the problem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77539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177539"/>
            <a:ext cx="41148" cy="47548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3241547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Protocol gateways, adapters and governed semantic 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3278123"/>
            <a:ext cx="1572768" cy="27432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332987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60073"/>
                </a:solidFill>
                <a:latin typeface="Arial"/>
              </a:rPr>
              <a:t>STRATEGIC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41547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Durable precisely if standards fragment — a hedge against our own convergence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12463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712463"/>
            <a:ext cx="41148" cy="47548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776472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Managed agent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3813048"/>
            <a:ext cx="1572768" cy="27432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3867911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60073"/>
                </a:solidFill>
                <a:latin typeface="Arial"/>
              </a:rPr>
              <a:t>STRATEGIC 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776472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Annuity revenue, but dependent on proving assurance demand first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47388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247388"/>
            <a:ext cx="41148" cy="475488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4311396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Machine-native settlement and agent marketplaces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4347972"/>
            <a:ext cx="1572768" cy="27432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4028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500C0"/>
                </a:solidFill>
                <a:latin typeface="Arial"/>
              </a:rPr>
              <a:t>FRONTIER BET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311396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Large addressable market but early, gamified volume and platform-dependent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782312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782312"/>
            <a:ext cx="41148" cy="475488"/>
          </a:xfrm>
          <a:prstGeom prst="rect">
            <a:avLst/>
          </a:prstGeom>
          <a:solidFill>
            <a:srgbClr val="6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4846320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Consumer personal-agent applications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4882896"/>
            <a:ext cx="1572768" cy="27432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4937759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E6E78"/>
                </a:solidFill>
                <a:latin typeface="Arial"/>
              </a:rPr>
              <a:t>AVOID / 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846320"/>
            <a:ext cx="46478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Low defensibility and wholly assistant-dependent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Scored on addressable value pool, willingness-to-pay, horizon, defensibility, switching costs, capital intensity, technical and regulatory risk, competitive intensity and platform dependence.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THE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Two decision gates govern the roadmap — at 12 months on assurance demand, and at 36 months on outcome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47548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Horizon 1   </a:t>
            </a:r>
            <a:r>
              <a:rPr sz="900" b="0">
                <a:solidFill>
                  <a:srgbClr val="FFFFFF"/>
                </a:solidFill>
                <a:latin typeface="Arial"/>
              </a:rPr>
              <a:t>0–18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Build the maturity diagnostic, trust/control library and sector use-case libraries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Stand up an agent-security and assurance practice — partner on tooling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Launch data/capability readiness and MCP-inventory assessments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Establish alliances with a hyperscaler, a card network and an identity provider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460073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Recruit and retain agent-security and integration talent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42816"/>
            <a:ext cx="3246120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3425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7500C0"/>
                </a:solidFill>
                <a:latin typeface="Arial"/>
              </a:rPr>
              <a:t>KPIs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E6E78"/>
                </a:solidFill>
                <a:latin typeface="Arial"/>
              </a:rPr>
              <a:t>Diagnostic engagements sold · assurance ARR · alliance certifications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3246120" cy="3474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GATE AT 12 MONTHS — if assurance and diagnostic demand is proven, expand into managed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572768"/>
            <a:ext cx="3602736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691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Horizon 2   </a:t>
            </a:r>
            <a:r>
              <a:rPr sz="900" b="0">
                <a:solidFill>
                  <a:srgbClr val="FFFFFF"/>
                </a:solidFill>
                <a:latin typeface="Arial"/>
              </a:rPr>
              <a:t>18–36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19456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Scale managed agent-operations as recurring revenue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Deliver cross-enterprise A2A workflow transformations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Build outcome-based pricing capability internally, learning from the EY, Deloitte and BCG playbooks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A100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Develop sector reference architectures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71416" y="4242816"/>
            <a:ext cx="3246120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433425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7500C0"/>
                </a:solidFill>
                <a:latin typeface="Arial"/>
              </a:rPr>
              <a:t>KPIs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E6E78"/>
                </a:solidFill>
                <a:latin typeface="Arial"/>
              </a:rPr>
              <a:t>Managed-service ARR · outcome-based revenue share · repeat-client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1416" y="4846320"/>
            <a:ext cx="3246120" cy="3474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5" y="48920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GATE AT 36 MONTHS — if outcome-based economics prove out, shift more of the book to success-fee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1" y="1572768"/>
            <a:ext cx="360273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1" y="1572768"/>
            <a:ext cx="3602736" cy="475488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1691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60073"/>
                </a:solidFill>
                <a:latin typeface="Arial"/>
              </a:rPr>
              <a:t>Horizon 3   </a:t>
            </a:r>
            <a:r>
              <a:rPr sz="900" b="0">
                <a:solidFill>
                  <a:srgbClr val="460073"/>
                </a:solidFill>
                <a:latin typeface="Arial"/>
              </a:rPr>
              <a:t>3–7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19456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BE82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Position for agent-marketplace and machine-commerce advisory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BE82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Develop dynamic-contracting IP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880" b="1">
                <a:solidFill>
                  <a:srgbClr val="BE82FF"/>
                </a:solidFill>
                <a:latin typeface="Arial"/>
              </a:rPr>
              <a:t>▪  </a:t>
            </a:r>
            <a:r>
              <a:rPr sz="880" b="0">
                <a:solidFill>
                  <a:srgbClr val="3A3A46"/>
                </a:solidFill>
                <a:latin typeface="Arial"/>
              </a:rPr>
              <a:t>Consider selective build or acquire in identity and assurance if the market consolidates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57031" y="4242816"/>
            <a:ext cx="3246120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433425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7500C0"/>
                </a:solidFill>
                <a:latin typeface="Arial"/>
              </a:rPr>
              <a:t>KPIs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E6E78"/>
                </a:solidFill>
                <a:latin typeface="Arial"/>
              </a:rPr>
              <a:t>Share of revenue from machine-commerce categories · IP licensing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Nothing in Horizon 2 is committed until the 12-month gate clears. The roadmap is deliberately optioned, because the falsifiers in section 05 are live.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A100F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6E6E78"/>
                </a:solidFill>
                <a:latin typeface="Arial"/>
              </a:rPr>
              <a:t>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What would prove
us wrong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A6"/>
                </a:solidFill>
                <a:latin typeface="Arial"/>
              </a:rPr>
              <a:t>The falsifiers and indicators, declared before the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0972" cy="3291840"/>
          </a:xfrm>
          <a:prstGeom prst="rect">
            <a:avLst/>
          </a:prstGeom>
          <a:solidFill>
            <a:srgbClr val="33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IN THIS SECTION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Five developments that would falsify or weaken the thesis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Seven leading indicators, and the two that matter most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The assumptions this research is built 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▪  </a:t>
            </a:r>
            <a:r>
              <a:rPr sz="1100" b="0">
                <a:solidFill>
                  <a:srgbClr val="D5D5DC"/>
                </a:solidFill>
                <a:latin typeface="Arial"/>
              </a:rPr>
              <a:t>Six decisions for the executive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FALSIFIERS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Five developments would falsify or materially weaken this thesis — we are declaring them before the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360273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3236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E82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75104"/>
            <a:ext cx="3236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4"/>
                </a:solidFill>
                <a:latin typeface="Arial"/>
              </a:rPr>
              <a:t>Consumer autonomous checkout recovers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If conversion reaches parity with redirect, the consumer sub-thesis we downgrade here would need upgrading — and Horizon-1 spend should shift toward consumer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572768"/>
            <a:ext cx="360273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55648"/>
            <a:ext cx="3236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E82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1975104"/>
            <a:ext cx="3236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4"/>
                </a:solidFill>
                <a:latin typeface="Arial"/>
              </a:rPr>
              <a:t>Protocols fragment permanently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395728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If ACP and UCP never converge, integration costs rise and the fragmentation counter-thesis wins. Gateways and adapters become more valuable, not less.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1572768"/>
            <a:ext cx="360273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1" y="1572768"/>
            <a:ext cx="3602736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755648"/>
            <a:ext cx="3236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E82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75104"/>
            <a:ext cx="3236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4"/>
                </a:solidFill>
                <a:latin typeface="Arial"/>
              </a:rPr>
              <a:t>Rails commoditise to near-zero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95728"/>
            <a:ext cx="32369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If incumbents capture all the value, there is no new value pool and no consulting annuity — only a one-off integration wave.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36976"/>
            <a:ext cx="5440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36976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1985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E82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39312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4"/>
                </a:solidFill>
                <a:latin typeface="Arial"/>
              </a:rPr>
              <a:t>Regulatory clampdown stalls delegated 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59936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EU high-risk classification of agentic commerce, or PSD3 SCA rules that block autonomous payment, would freeze Horizon 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236976"/>
            <a:ext cx="5440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3236976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419856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E82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639312"/>
            <a:ext cx="5074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4"/>
                </a:solidFill>
                <a:latin typeface="Arial"/>
              </a:rPr>
              <a:t>Machine-native settlement never becomes genuine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059936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E78"/>
                </a:solidFill>
                <a:latin typeface="Arial"/>
              </a:rPr>
              <a:t>Roughly half of x402 activity was wash or gamified at the March 2026 snapshot, with only ~$28,000 a day genuine. If that never converts, Horizon 3 shrinks.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None of these five is currently triggered. Two of them — 01 and 05 — are the ones we should instrument now, because they would change the investment case rather than merely delay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LEADING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Seven indicators tell us whether we are right — and two of them matter more than the other five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41148" cy="475488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63677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4"/>
                </a:solidFill>
                <a:latin typeface="Arial"/>
              </a:rPr>
              <a:t>MCP production-adoption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1636776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~41% today, with OAuth 2.1 at ~8.5%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7691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7691"/>
            <a:ext cx="41148" cy="475488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171699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4"/>
                </a:solidFill>
                <a:latin typeface="Arial"/>
              </a:rPr>
              <a:t>ACP / UCP convergence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171699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The one genuinely contested layer in the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42615"/>
            <a:ext cx="11185855" cy="475488"/>
          </a:xfrm>
          <a:prstGeom prst="rect">
            <a:avLst/>
          </a:prstGeom>
          <a:solidFill>
            <a:srgbClr val="F9F4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42615"/>
            <a:ext cx="41148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706623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x402 genuine, wash-filtered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706623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The falsifier for the whole Horizon-3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1767" y="2752344"/>
            <a:ext cx="1097280" cy="2560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1767" y="28072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77539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77539"/>
            <a:ext cx="41148" cy="475488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1547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4"/>
                </a:solidFill>
                <a:latin typeface="Arial"/>
              </a:rPr>
              <a:t>Card-network agentic transaction counts in live APAC markets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241547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Hong Kong and Thailand are the leading 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12463"/>
            <a:ext cx="11185855" cy="475488"/>
          </a:xfrm>
          <a:prstGeom prst="rect">
            <a:avLst/>
          </a:prstGeom>
          <a:solidFill>
            <a:srgbClr val="F9F4FF"/>
          </a:solidFill>
          <a:ln w="11430">
            <a:solidFill>
              <a:srgbClr val="BE8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12463"/>
            <a:ext cx="41148" cy="47548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7647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A24"/>
                </a:solidFill>
                <a:latin typeface="Arial"/>
              </a:rPr>
              <a:t>Consumer autonomous-checkout conversion versus redirect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776472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The single most consequential number in this deck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81767" y="3822191"/>
            <a:ext cx="1097280" cy="2560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1767" y="3877055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47388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247388"/>
            <a:ext cx="41148" cy="475488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431139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4"/>
                </a:solidFill>
                <a:latin typeface="Arial"/>
              </a:rPr>
              <a:t>FIDO agentic-standards ratification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4311396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Determines how fast delegated authority becomes routine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82312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82312"/>
            <a:ext cx="41148" cy="475488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84632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4"/>
                </a:solidFill>
                <a:latin typeface="Arial"/>
              </a:rPr>
              <a:t>PSD3 / PSR application date and any agent-specific provisions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4846320"/>
            <a:ext cx="423641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Earliest ~H2 2027, potentially slipping to 2028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Instrument the two priority indicators as a standing quarterly review item. They are the two datapoints that would most change the thesis — everything else is confirmation.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100FF"/>
                </a:solidFill>
                <a:latin typeface="Arial"/>
              </a:rPr>
              <a:t>EVIDENCE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0029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A1A24"/>
                </a:solidFill>
                <a:latin typeface="Arial"/>
              </a:rPr>
              <a:t>Four assumptions shape every number in this deck — they should be challenged before the conclusions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185855" cy="10972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7393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82FF"/>
                </a:solidFill>
                <a:latin typeface="Arial"/>
              </a:rPr>
              <a:t>ASSUMPTION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The agentic bar is defined and enforced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5915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“Agentic” requires goal interpretation, decision-making, tool use, adaptation or delegated action. Deterministic RPA and EDI are excluded unless they meet that bar.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57276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7276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7393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82FF"/>
                </a:solidFill>
                <a:latin typeface="Arial"/>
              </a:rPr>
              <a:t>ASSUMPTION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Announcements are not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Pilots are not production. Every adoption figure in this deck distinguishes the two, and vendor claims are triangulated with independent evidence or flagged where they cannot be.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1012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5112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82FF"/>
                </a:solidFill>
                <a:latin typeface="Arial"/>
              </a:rPr>
              <a:t>ASSUMPTION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749039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Market sizes are scenarios, not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9651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Forecasts range 35× across sources — from eMarketer’s ~$144bn to McKinsey’s ~$5tn by 2030 — driven purely by definitional boundaries.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310128"/>
            <a:ext cx="54406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310128"/>
            <a:ext cx="544068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112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82FF"/>
                </a:solidFill>
                <a:latin typeface="Arial"/>
              </a:rPr>
              <a:t>ASSUMPTION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39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4"/>
                </a:solidFill>
                <a:latin typeface="Arial"/>
              </a:rPr>
              <a:t>Two variables carry most of the 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8"/>
                </a:solidFill>
                <a:latin typeface="Arial"/>
              </a:rPr>
              <a:t>The findings are most sensitive to whether consumer autonomous checkout conversion recovers, and whether machine-native settlement volume becomes genuine. Both are flagged as falsifiers.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41264"/>
            <a:ext cx="11185855" cy="548640"/>
          </a:xfrm>
          <a:prstGeom prst="rect">
            <a:avLst/>
          </a:prstGeom>
          <a:solidFill>
            <a:srgbClr val="F0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541264"/>
            <a:ext cx="41148" cy="548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623559"/>
            <a:ext cx="108018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00C0"/>
                </a:solidFill>
                <a:latin typeface="Arial"/>
              </a:rPr>
              <a:t>SO WHAT   </a:t>
            </a:r>
            <a:r>
              <a:rPr sz="1050" b="0">
                <a:solidFill>
                  <a:srgbClr val="1A1A24"/>
                </a:solidFill>
                <a:latin typeface="Arial"/>
              </a:rPr>
              <a:t>If the room disagrees with a conclusion, take the disagreement back to one of these four assumptions. That is where the real argument lives.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4593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Copyright © 2026 Accenture. All rights reserved.   | 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495" y="63459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EXECUTIVE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Six decisions for the executive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1051560" cy="320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08483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BELIEVE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35915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The front is real and consequential — but the next 18 months of value are in enterprise and B2B workflows and the identity-payment-trust rails, not autonomous consumer shopping.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6248" y="192024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56248" y="192024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08483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ADVISE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35915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Fund machine-readable capability, identity and delegated authority, and agent assurance as no-regret foundations. Run bounded pilots with a human in the loop. Defer consumer autonomous checkout.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0040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0040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36499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63931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A proprietary maturity diagnostic, a trust/control and assurance library, sector use-case libraries and benchmarks, and protocol accelerators — assembling, not rebuilding, open tooling.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6248" y="320040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56248" y="320040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36499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PARTNER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63931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Observability and evaluation, payment rails and identity — via alliances with one hyperscaler, one card network and one identity provider.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48056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48056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64515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INVEST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491947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Agent identity and trust, security and assurance, and data readiness near-term; managed operations and protocol gateways as options; machine-native settlement as a frontier bet.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4480560"/>
            <a:ext cx="5230368" cy="1170432"/>
          </a:xfrm>
          <a:prstGeom prst="rect">
            <a:avLst/>
          </a:prstGeom>
          <a:solidFill>
            <a:srgbClr val="121218"/>
          </a:solidFill>
          <a:ln w="9525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56248" y="4480560"/>
            <a:ext cx="36576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64515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100FF"/>
                </a:solidFill>
                <a:latin typeface="Arial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919472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8C8D2"/>
                </a:solidFill>
                <a:latin typeface="Arial"/>
              </a:rPr>
              <a:t>The seven leading indicators — above all whether consumer autonomous-checkout conversion recovers, and whether machine-native settlement volume becomes genuine.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44768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E6E78"/>
                </a:solidFill>
                <a:latin typeface="Arial"/>
              </a:rPr>
              <a:t>Prepared 18 August 2026 · Adoption figures distinguish announcements from production · Forecasts are labelled as scenarios · Vendor claims are triangulated or flagged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1447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100FF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